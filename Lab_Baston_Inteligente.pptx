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2" r:id="rId12"/>
    <p:sldId id="273" r:id="rId13"/>
    <p:sldId id="266" r:id="rId14"/>
    <p:sldId id="267" r:id="rId15"/>
    <p:sldId id="269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8963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CF36D-08DD-7234-DC62-05C5C2D3A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11EA06-B207-92F5-4A95-C515102F20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046AF0-F028-385B-D22C-06CB8A3C81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69FF6-5C87-6F20-BDE4-A1C5A62ECD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6465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93BF0-1874-1E59-0DE0-3780EADE4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2C372F-8E55-3C3E-96E5-591DC35822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20362E-586B-3C39-F85D-58CF9FCF97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C6783-4049-2004-8BA8-53D287DA90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2541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2651760" y="0"/>
            <a:ext cx="457200" cy="5143500"/>
          </a:xfrm>
          <a:prstGeom prst="rect">
            <a:avLst/>
          </a:prstGeom>
          <a:solidFill>
            <a:srgbClr val="0077A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11480" y="18288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</a:rPr>
              <a:t>🦯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291840" y="54864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Bastón Inteligente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 Visión por Computadora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291840" y="2148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Detección de Obstáculos en Tiempo Real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91840" y="2697480"/>
            <a:ext cx="530352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291840" y="283464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Asignatura: </a:t>
            </a: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 — Semestre IX
</a:t>
            </a:r>
            <a:r>
              <a:rPr lang="en-US" sz="13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Programa: </a:t>
            </a: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Mecatrónica
</a:t>
            </a:r>
            <a:r>
              <a:rPr lang="en-US" sz="13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Universidad: </a:t>
            </a: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Militar Nueva Granada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Grupo: </a:t>
            </a: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Alejandro Montes, Juan Manuel Rodríguez y Andres Camacho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91840" y="4389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YOLOv8 · Qwen3-VL · TTS Reactivo · Telemetría IEEE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828800" cy="2926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" y="12801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personas con discapacidad visual enfrentan riesgos cotidianos de colisión con obstáculos. Los bastones convencionales solo detectan objetos al nivel del suelo y no ofrecen información semántica del entorno.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286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Propuesta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0040" y="26517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de visión artificial offline que analiza el entorno en tiempo real usando Edge AI, emite alertas de voz y cuantifica su propio desempeño. El sistema también puede transferirse a robots móviles de última milla.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3749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Importancia de la práctica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0040" y="406908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IA generativa, visión por computadora, accesibilidad y optimización de hardware móvil en un solo pipeline operativo.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192486" y="868680"/>
            <a:ext cx="3657600" cy="3977640"/>
          </a:xfrm>
          <a:prstGeom prst="rect">
            <a:avLst/>
          </a:prstGeom>
          <a:solidFill>
            <a:srgbClr val="D9EDF4"/>
          </a:solidFill>
          <a:ln w="2540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6812280" y="2537460"/>
            <a:ext cx="457200" cy="457200"/>
          </a:xfrm>
          <a:prstGeom prst="ellipse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5212080" y="27203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Foto/pantallazo del contexto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imagen ilustrativa</a:t>
            </a:r>
            <a:endParaRPr lang="en-US" sz="1100" dirty="0"/>
          </a:p>
        </p:txBody>
      </p:sp>
      <p:sp>
        <p:nvSpPr>
          <p:cNvPr id="15" name="AutoShape 2" descr="Invidente - Qué es, importancia, definición y concepto">
            <a:extLst>
              <a:ext uri="{FF2B5EF4-FFF2-40B4-BE49-F238E27FC236}">
                <a16:creationId xmlns:a16="http://schemas.microsoft.com/office/drawing/2014/main" id="{A71DC09B-ADDC-1545-DA7B-ECB1112135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68B63F3C-3FC7-6221-5A28-020E0B584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9578" y="826225"/>
            <a:ext cx="3783165" cy="40625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828800" cy="2926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 General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8503920" cy="777240"/>
          </a:xfrm>
          <a:prstGeom prst="rect">
            <a:avLst/>
          </a:prstGeom>
          <a:solidFill>
            <a:srgbClr val="E8F4F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y evaluar un prototipo offline de asistencia visual que detecte riesgos cercanos y genere alertas estructuradas para el usuario usando inferencia local.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22860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Específicos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0040" y="2807208"/>
            <a:ext cx="320040" cy="32004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20040" y="28072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7432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 flujo local de captura de keyframes, preprocesamiento e inferencia con modelo compacto.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3465576"/>
            <a:ext cx="320040" cy="32004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320040" y="34655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340156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salidas estructuradas (peligro, tipo de evento, posición, distancia) y traducirlas a retroalimentación auditiva o háptica.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4123944"/>
            <a:ext cx="320040" cy="32004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20040" y="41239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4059936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latencia, estabilidad, memoria y tasa de aciertos; proponer optimizaciones como cuantización o reducción de muestreo.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828800" cy="2926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297180"/>
            <a:ext cx="8549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Tecnologías Clave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4160520" cy="1783080"/>
          </a:xfrm>
          <a:prstGeom prst="rect">
            <a:avLst/>
          </a:prstGeom>
          <a:solidFill>
            <a:srgbClr val="F0F7F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91440" cy="17830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11480" y="10058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YOLOv8s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37160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objetos en tiempo real. 80 clases COCO. Latencia ~100–150 ms en CPU. Devuelve bounding boxes y confianza pero no razona sobre el contexto.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17720" y="914400"/>
            <a:ext cx="4160520" cy="1783080"/>
          </a:xfrm>
          <a:prstGeom prst="rect">
            <a:avLst/>
          </a:prstGeom>
          <a:solidFill>
            <a:srgbClr val="F0F7F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4617720" y="914400"/>
            <a:ext cx="91440" cy="1783080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800600" y="10058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Qwen3-VL 2B (VLM)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137160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Language Model local vía Ollama. Razona visualmente sobre la escena: "la silla está a tu derecha, el pasillo despejado". Más lento (2–8 s), corre cada 4 s en hilo separado.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28600" y="2880360"/>
            <a:ext cx="4160520" cy="1783080"/>
          </a:xfrm>
          <a:prstGeom prst="rect">
            <a:avLst/>
          </a:prstGeom>
          <a:solidFill>
            <a:srgbClr val="F0F7F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228600" y="2880360"/>
            <a:ext cx="91440" cy="178308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11480" y="297180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Edge AI / Inferencia Local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" y="333756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completamente offline. Sin enviar datos a la nube. Optimizable con cuantización INT8, modelos compactos (MobileNetV2/V3) y ajuste de frecuencia de muestreo.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17720" y="2880360"/>
            <a:ext cx="4160520" cy="1783080"/>
          </a:xfrm>
          <a:prstGeom prst="rect">
            <a:avLst/>
          </a:prstGeom>
          <a:solidFill>
            <a:srgbClr val="F0F7F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4617720" y="2880360"/>
            <a:ext cx="91440" cy="1783080"/>
          </a:xfrm>
          <a:prstGeom prst="rect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800600" y="297180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TTS — PowerShell SAPI5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00600" y="333756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voz en Windows. Se usa PowerShell en lugar de pyttsx3 para evitar corrupción de estado COM en hilos secundarios. Cola FIFO con descarte de mensajes obsoletos.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828800" cy="2926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384048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Pseudo-Profundimetría y Niveles de Riesgo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sensor LiDAR ni cámara estéreo, el sistema estima distancia midiendo el área relativa de cada bounding box respecto al frame: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0" y="1463040"/>
            <a:ext cx="5486400" cy="6400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1828800" y="14630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tamaño_relativo = (ancho_caja × alto_caja) / (ancho_frame × alto_frame)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240280"/>
          <a:ext cx="8503920" cy="1609344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Etiqueta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 de Riesgo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Frecuencia de Alerta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&gt; 15% del frame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Alto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1.5 – 3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4 – 15%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🟠 Medio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4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&lt; 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Lejos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Bajo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al cambiar estado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20040" y="2240280"/>
            <a:ext cx="8503920" cy="402336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CO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240280"/>
          <a:ext cx="8503920" cy="1609344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Etiqueta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 de Riesgo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Frecuencia de Alerta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&gt; 15% del frame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Alto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1.5 – 3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4 – 15%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🟠 Medio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4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&lt; 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Lejos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Bajo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al cambiar estado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44348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alertas de voz se emiten en un hilo daemon independiente con cola FIFO que descarta mensajes obsoletos para garantizar inmediatez.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828800" cy="2926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35335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 del Sistema — Pipeline de Hilos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3931920" cy="1188720"/>
          </a:xfrm>
          <a:prstGeom prst="rect">
            <a:avLst/>
          </a:prstGeom>
          <a:solidFill>
            <a:srgbClr val="F0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91440" cy="1188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11480" y="98755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Hilo Cámara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353312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continua MJPEG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 buffer → 0 latencia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28600" y="2240280"/>
            <a:ext cx="3931920" cy="1188720"/>
          </a:xfrm>
          <a:prstGeom prst="rect">
            <a:avLst/>
          </a:prstGeom>
          <a:solidFill>
            <a:srgbClr val="F0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91440" cy="1188720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11480" y="231343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Hilo Principal (YOLO)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2679192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YOLOv8s por frame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+ bounding boxes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peligro inmediato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28600" y="3657600"/>
            <a:ext cx="3931920" cy="1188720"/>
          </a:xfrm>
          <a:prstGeom prst="rect">
            <a:avLst/>
          </a:prstGeom>
          <a:solidFill>
            <a:srgbClr val="F0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228600" y="3657600"/>
            <a:ext cx="91440" cy="11887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11480" y="373075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Hilo VLM (Qwen3-VL)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4096512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4 s en daemon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semántico visual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JSON: {peligro, alerta_voz}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057400" y="2121408"/>
            <a:ext cx="91440" cy="137160"/>
          </a:xfrm>
          <a:prstGeom prst="rect">
            <a:avLst/>
          </a:prstGeom>
          <a:solidFill>
            <a:srgbClr val="7B8FA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2057400" y="3447288"/>
            <a:ext cx="91440" cy="137160"/>
          </a:xfrm>
          <a:prstGeom prst="rect">
            <a:avLst/>
          </a:prstGeom>
          <a:solidFill>
            <a:srgbClr val="7B8FA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4937760" y="914400"/>
            <a:ext cx="3931920" cy="1188720"/>
          </a:xfrm>
          <a:prstGeom prst="rect">
            <a:avLst/>
          </a:prstGeom>
          <a:solidFill>
            <a:srgbClr val="F0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4937760" y="914400"/>
            <a:ext cx="91440" cy="1188720"/>
          </a:xfrm>
          <a:prstGeom prst="rect">
            <a:avLst/>
          </a:prstGeom>
          <a:solidFill>
            <a:srgbClr val="0077A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5120640" y="98755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HUD + Benchmark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20640" y="1353312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Dibuja latencia, FPS y alerta VLM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métricas en CSV IEEE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937760" y="2258569"/>
            <a:ext cx="3931920" cy="1188720"/>
          </a:xfrm>
          <a:prstGeom prst="rect">
            <a:avLst/>
          </a:prstGeom>
          <a:solidFill>
            <a:srgbClr val="F0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4937760" y="2258569"/>
            <a:ext cx="91440" cy="11887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5120640" y="2331721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Hilo Audio (TTS)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20640" y="2697481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FIFO → PowerShell SAPI5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 mensajes obsoletos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160520" y="1508760"/>
            <a:ext cx="777240" cy="0"/>
          </a:xfrm>
          <a:prstGeom prst="line">
            <a:avLst/>
          </a:prstGeom>
          <a:noFill/>
          <a:ln w="19050">
            <a:solidFill>
              <a:srgbClr val="7B8FA1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4160520" y="2834640"/>
            <a:ext cx="777240" cy="0"/>
          </a:xfrm>
          <a:prstGeom prst="line">
            <a:avLst/>
          </a:prstGeom>
          <a:noFill/>
          <a:ln w="19050">
            <a:solidFill>
              <a:srgbClr val="7B8FA1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228600" y="4663440"/>
            <a:ext cx="8641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IP Webcam → MJPEG Stream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828800" cy="2926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46888" y="342900"/>
            <a:ext cx="8531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Etapas de la Práctica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640080" cy="6400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228600" y="868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88696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Preparación del conjunto de pruebas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092055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3–5 escenas con obstáculos, desniveles y trayectorias despejadas. Anotar manualmente el riesgo esperado en cada caso.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1673352"/>
            <a:ext cx="640080" cy="6400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228600" y="1673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1691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Implementación del Pipeline Local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87552" y="1858845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por keyframes → preprocesamiento OpenCV → inferencia YOLOv8s → JSON con {peligro, tipo, posición, distancia}.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2478024"/>
            <a:ext cx="640080" cy="6400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228600" y="24780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24963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Integración de Alertas al Usuario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663517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Traducir salida estructurada a mensajes cortos de audio (TTS SAPI5) y/o patrones hápticos. Asegurar respuesta inmediata.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3282696"/>
            <a:ext cx="640080" cy="6400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228600" y="32826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05840" y="330098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Medición y Optimización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3465576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FPS, latencia por frame, RAM, falsas alarmas. Probar ≥1 optimización: cuantización, reducción de muestreo o modelo más compacto.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4087368"/>
            <a:ext cx="640080" cy="6400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228600" y="40873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5840" y="410565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Informe y Sustentación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427024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informe IEEE con arquitectura, resultados, evidencia, análisis de fallos y propuesta de mejora.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828800" cy="2926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01752" y="379476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Instalación y Configuración del Entorno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2860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 de Software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" y="128016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3.12+ con venv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· NumPy · Matplotlib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 (YOLOv8s.pt)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+ qwen3-vl:2b (~1.5 GB)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pyttsx3 / psutil / pywin32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" y="3200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 Mínimo / Recomendado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566160"/>
          <a:ext cx="4114800" cy="1295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Mínimo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Recomendado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núcleos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núcleos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requerida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 (CUDA)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WiFi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 GHz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GHz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469380" y="1965960"/>
            <a:ext cx="457200" cy="457200"/>
          </a:xfrm>
          <a:prstGeom prst="ellipse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4572000" y="214884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Pantallazo: terminal con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/ Ollama corriendo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0" y="3794760"/>
            <a:ext cx="4251960" cy="10515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1"/>
          <p:cNvSpPr/>
          <p:nvPr/>
        </p:nvSpPr>
        <p:spPr>
          <a:xfrm>
            <a:off x="4663440" y="3840480"/>
            <a:ext cx="4069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opencv-python ultralytics ollama pyttsx3 psutil pywin32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pull qwen3-vl:2b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pipeline_vision.py</a:t>
            </a:r>
            <a:endParaRPr lang="en-US" sz="105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D2FD21B3-D276-AA18-9207-C622DCF96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226" y="988930"/>
            <a:ext cx="5319426" cy="21963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828800" cy="2926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378823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Métricas de Desempeño del Prototipo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2011680" cy="1508760"/>
          </a:xfrm>
          <a:prstGeom prst="rect">
            <a:avLst/>
          </a:prstGeom>
          <a:solidFill>
            <a:srgbClr val="F0F7F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2011680" cy="1371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228600" y="1051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28600" y="1508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~134 ms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2860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YOLO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" y="217627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frame (CPU)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41448" y="914400"/>
            <a:ext cx="2011680" cy="1508760"/>
          </a:xfrm>
          <a:prstGeom prst="rect">
            <a:avLst/>
          </a:prstGeom>
          <a:solidFill>
            <a:srgbClr val="F0F7F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2441448" y="914400"/>
            <a:ext cx="2011680" cy="137160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2441448" y="1051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🎞️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41448" y="1508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B5D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~7 FPS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441448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 promedio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41448" y="217627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procesados por segundo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54296" y="914400"/>
            <a:ext cx="2011680" cy="1508760"/>
          </a:xfrm>
          <a:prstGeom prst="rect">
            <a:avLst/>
          </a:prstGeom>
          <a:solidFill>
            <a:srgbClr val="F0F7F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4654296" y="914400"/>
            <a:ext cx="2011680" cy="13716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654296" y="1051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654296" y="1508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~312 MB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654296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usada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54296" y="217627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Python activo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67144" y="914400"/>
            <a:ext cx="2011680" cy="1508760"/>
          </a:xfrm>
          <a:prstGeom prst="rect">
            <a:avLst/>
          </a:prstGeom>
          <a:solidFill>
            <a:srgbClr val="F0F7F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6867144" y="914400"/>
            <a:ext cx="2011680" cy="137160"/>
          </a:xfrm>
          <a:prstGeom prst="rect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6867144" y="1051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867144" y="1508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C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cada 4 s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867144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ciclo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67144" y="217627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Qwen3-VL asíncrono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8600" y="2606040"/>
            <a:ext cx="8641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Extracto de metricas_vision_ieee.csv (formato real de salida)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28600" y="2971800"/>
            <a:ext cx="8641080" cy="10515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365760" y="2999232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       fps   inference_ms   ram_mb   objects   event_type                  danger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1748052123.4    7     134.5          312.4    2         1 person CRITICO, 1 chair   Alto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1748052124.1    7     128.1          312.6    1         1 person CRITICO             Alto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20540" y="4206240"/>
            <a:ext cx="457200" cy="457200"/>
          </a:xfrm>
          <a:prstGeom prst="ellipse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8" name="Imagen 37">
            <a:extLst>
              <a:ext uri="{FF2B5EF4-FFF2-40B4-BE49-F238E27FC236}">
                <a16:creationId xmlns:a16="http://schemas.microsoft.com/office/drawing/2014/main" id="{543F99B5-097A-7DD1-C881-9542AB14E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8090" y="4050792"/>
            <a:ext cx="4850076" cy="9833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828800" cy="2926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389926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Escenas de Prueba — Evidencia Visual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080260" y="1394460"/>
            <a:ext cx="457200" cy="457200"/>
          </a:xfrm>
          <a:prstGeom prst="ellipse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228600" y="157734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Escena 1: Obstáculo CRÍTICO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(persona a &lt; 15% frame)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15100" y="1394460"/>
            <a:ext cx="457200" cy="457200"/>
          </a:xfrm>
          <a:prstGeom prst="ellipse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6515100" y="3406140"/>
            <a:ext cx="457200" cy="457200"/>
          </a:xfrm>
          <a:prstGeom prst="ellipse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228600" y="4754880"/>
            <a:ext cx="8641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Insertar capturas de pantalla del sistema en ejecución, incluyendo bounding boxes, HUD y alerta VLM.</a:t>
            </a:r>
            <a:endParaRPr lang="en-US" sz="1100" dirty="0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3493EBF5-9288-3E08-83D3-6FF088FE0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052" y="968610"/>
            <a:ext cx="6760135" cy="38659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3E6D2-4C75-EE76-87BD-60AF454F0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99B676F-2FF7-2E7F-4B25-886616669B6D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A7762B3-EA43-0BD4-130B-5E6EEB86325E}"/>
              </a:ext>
            </a:extLst>
          </p:cNvPr>
          <p:cNvSpPr/>
          <p:nvPr/>
        </p:nvSpPr>
        <p:spPr>
          <a:xfrm>
            <a:off x="365760" y="201168"/>
            <a:ext cx="1828800" cy="2926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49451B1-889F-067D-9F23-551FDBAAE05B}"/>
              </a:ext>
            </a:extLst>
          </p:cNvPr>
          <p:cNvSpPr/>
          <p:nvPr/>
        </p:nvSpPr>
        <p:spPr>
          <a:xfrm>
            <a:off x="365760" y="201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07FAA11-DA48-26B7-22FD-730634413A24}"/>
              </a:ext>
            </a:extLst>
          </p:cNvPr>
          <p:cNvSpPr/>
          <p:nvPr/>
        </p:nvSpPr>
        <p:spPr>
          <a:xfrm>
            <a:off x="228600" y="389926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Escenas de Prueba — Evidencia Visual</a:t>
            </a:r>
            <a:endParaRPr lang="en-US" sz="28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A7DE9C1-4310-2862-73F4-9EB9448368DD}"/>
              </a:ext>
            </a:extLst>
          </p:cNvPr>
          <p:cNvSpPr/>
          <p:nvPr/>
        </p:nvSpPr>
        <p:spPr>
          <a:xfrm>
            <a:off x="2080260" y="1394460"/>
            <a:ext cx="457200" cy="457200"/>
          </a:xfrm>
          <a:prstGeom prst="ellipse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153F4E2-6EA2-064B-1CE7-399F6F8449E8}"/>
              </a:ext>
            </a:extLst>
          </p:cNvPr>
          <p:cNvSpPr/>
          <p:nvPr/>
        </p:nvSpPr>
        <p:spPr>
          <a:xfrm>
            <a:off x="228600" y="157734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Escena 1: Obstáculo CRÍTICO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(persona a &lt; 15% frame)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E308FD0-30A5-CC45-EE0F-911A5DD9C78E}"/>
              </a:ext>
            </a:extLst>
          </p:cNvPr>
          <p:cNvSpPr/>
          <p:nvPr/>
        </p:nvSpPr>
        <p:spPr>
          <a:xfrm>
            <a:off x="6515100" y="1394460"/>
            <a:ext cx="457200" cy="457200"/>
          </a:xfrm>
          <a:prstGeom prst="ellipse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5DCC6377-12FC-8964-42AC-27DE9DDA7855}"/>
              </a:ext>
            </a:extLst>
          </p:cNvPr>
          <p:cNvSpPr/>
          <p:nvPr/>
        </p:nvSpPr>
        <p:spPr>
          <a:xfrm>
            <a:off x="6515100" y="3406140"/>
            <a:ext cx="457200" cy="457200"/>
          </a:xfrm>
          <a:prstGeom prst="ellipse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9B74AC6-A0BB-1AFB-88FB-335C44321D49}"/>
              </a:ext>
            </a:extLst>
          </p:cNvPr>
          <p:cNvSpPr/>
          <p:nvPr/>
        </p:nvSpPr>
        <p:spPr>
          <a:xfrm>
            <a:off x="228600" y="4754880"/>
            <a:ext cx="8641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Insertar capturas de pantalla del sistema en ejecución, incluyendo bounding boxes, HUD y alerta VLM.</a:t>
            </a:r>
            <a:endParaRPr lang="en-US" sz="11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2E246449-310D-BA7A-3986-1279D6779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859" y="903525"/>
            <a:ext cx="6804265" cy="3895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240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3BB85-093C-AA88-3985-1986CFA7D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6D500CE-C3B7-BEFB-42BE-5696EA86AE68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68C3929-D97A-1093-862B-97CD72771A56}"/>
              </a:ext>
            </a:extLst>
          </p:cNvPr>
          <p:cNvSpPr/>
          <p:nvPr/>
        </p:nvSpPr>
        <p:spPr>
          <a:xfrm>
            <a:off x="365760" y="201168"/>
            <a:ext cx="1828800" cy="2926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CAECF7D-C84B-2DDE-440A-A249D03A3C51}"/>
              </a:ext>
            </a:extLst>
          </p:cNvPr>
          <p:cNvSpPr/>
          <p:nvPr/>
        </p:nvSpPr>
        <p:spPr>
          <a:xfrm>
            <a:off x="365760" y="201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CB0F57D-B678-8776-EB38-278AF7D41108}"/>
              </a:ext>
            </a:extLst>
          </p:cNvPr>
          <p:cNvSpPr/>
          <p:nvPr/>
        </p:nvSpPr>
        <p:spPr>
          <a:xfrm>
            <a:off x="228600" y="389926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Escenas de Prueba — Evidencia Visual</a:t>
            </a:r>
            <a:endParaRPr lang="en-US" sz="28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322121E-8B5C-E750-80CD-4EAB58A224A9}"/>
              </a:ext>
            </a:extLst>
          </p:cNvPr>
          <p:cNvSpPr/>
          <p:nvPr/>
        </p:nvSpPr>
        <p:spPr>
          <a:xfrm>
            <a:off x="2080260" y="1394460"/>
            <a:ext cx="457200" cy="457200"/>
          </a:xfrm>
          <a:prstGeom prst="ellipse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E2A636B-53C5-A2C0-6447-A58540F97DE9}"/>
              </a:ext>
            </a:extLst>
          </p:cNvPr>
          <p:cNvSpPr/>
          <p:nvPr/>
        </p:nvSpPr>
        <p:spPr>
          <a:xfrm>
            <a:off x="228600" y="157734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Escena 1: Obstáculo CRÍTICO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(persona a &lt; 15% frame)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4F759A0-8824-C8DC-0D28-0A17B49BF5BD}"/>
              </a:ext>
            </a:extLst>
          </p:cNvPr>
          <p:cNvSpPr/>
          <p:nvPr/>
        </p:nvSpPr>
        <p:spPr>
          <a:xfrm>
            <a:off x="6515100" y="1394460"/>
            <a:ext cx="457200" cy="457200"/>
          </a:xfrm>
          <a:prstGeom prst="ellipse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B50709C6-6FBC-E816-8347-CAD14B383826}"/>
              </a:ext>
            </a:extLst>
          </p:cNvPr>
          <p:cNvSpPr/>
          <p:nvPr/>
        </p:nvSpPr>
        <p:spPr>
          <a:xfrm>
            <a:off x="6515100" y="3406140"/>
            <a:ext cx="457200" cy="457200"/>
          </a:xfrm>
          <a:prstGeom prst="ellipse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7CCF1D1C-89C0-A637-FDDA-A5AC3FAA3B9B}"/>
              </a:ext>
            </a:extLst>
          </p:cNvPr>
          <p:cNvSpPr/>
          <p:nvPr/>
        </p:nvSpPr>
        <p:spPr>
          <a:xfrm>
            <a:off x="228600" y="4754880"/>
            <a:ext cx="8641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Insertar capturas de pantalla del sistema en ejecución, incluyendo bounding boxes, HUD y alerta VLM.</a:t>
            </a:r>
            <a:endParaRPr lang="en-US" sz="11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19EFF84-708A-95D0-7664-302B550C53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077"/>
          <a:stretch>
            <a:fillRect/>
          </a:stretch>
        </p:blipFill>
        <p:spPr>
          <a:xfrm>
            <a:off x="1205668" y="941391"/>
            <a:ext cx="6366903" cy="365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840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828800" cy="2926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308860" y="64008"/>
            <a:ext cx="65151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Análisis de Resultados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4160520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20040" y="82296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Análisis 1 — Desempeño del Prototipo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6324" y="1234440"/>
            <a:ext cx="41605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 ms de latencia YOLO es viable para movilidad peatonal (~7 fps), aunque no óptimo para desplazamiento rápido.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VLM de 4 s da contexto semántico sin saturar la CPU; reducirlo mejoraría la riqueza informativa.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yolov8s.pt → yolov8n.pt reduce la latencia ~30% con pérdida moderada de precisión.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pseudo-profundimetría por tamaño relativo es efectiva en pasillos pero puede fallar con cámaras de gran angular.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822960"/>
            <a:ext cx="4160520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754880" y="82296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Análisis 2 — Seguridad Funcional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1234440"/>
            <a:ext cx="41605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positivos generan fatiga auditiva; el umbral de confianza (0.45) puede calibrarse por tipo de escena.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negativos en obstáculos pequeños representan el riesgo real más alto para el usuario.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FIFO con descarte prioriza mensajes urgentes eliminando demoras acumuladas.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robot móvil de domicilios: latencia aceptable, pero se requeriría sensor de profundidad real y navegación autónoma.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841248"/>
          </a:xfrm>
          <a:prstGeom prst="rect">
            <a:avLst/>
          </a:prstGeom>
          <a:solidFill>
            <a:srgbClr val="13203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91440" cy="84124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640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Text 6"/>
          <p:cNvSpPr/>
          <p:nvPr/>
        </p:nvSpPr>
        <p:spPr>
          <a:xfrm>
            <a:off x="1188720" y="1024128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prototipo satisface los objetivos de percepción local, salida estructurada y tiempo de respuesta aceptable para movilidad peatonal en entornos controlados.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901952"/>
            <a:ext cx="8412480" cy="841248"/>
          </a:xfrm>
          <a:prstGeom prst="rect">
            <a:avLst/>
          </a:prstGeom>
          <a:solidFill>
            <a:srgbClr val="13203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365760" y="1901952"/>
            <a:ext cx="91440" cy="84124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502920" y="1901952"/>
            <a:ext cx="640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2" name="Text 10"/>
          <p:cNvSpPr/>
          <p:nvPr/>
        </p:nvSpPr>
        <p:spPr>
          <a:xfrm>
            <a:off x="1188720" y="2011680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integración de YOLO + VLM enseña a balancear velocidad vs. riqueza semántica: ambos modelos son complementarios y no excluyentes.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889504"/>
            <a:ext cx="8412480" cy="841248"/>
          </a:xfrm>
          <a:prstGeom prst="rect">
            <a:avLst/>
          </a:prstGeom>
          <a:solidFill>
            <a:srgbClr val="13203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365760" y="2889504"/>
            <a:ext cx="91440" cy="84124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502920" y="2889504"/>
            <a:ext cx="640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6" name="Text 14"/>
          <p:cNvSpPr/>
          <p:nvPr/>
        </p:nvSpPr>
        <p:spPr>
          <a:xfrm>
            <a:off x="1188720" y="2999232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cuantización y la reducción de frecuencia de muestreo son optimizaciones efectivas; el paso a hardware embebido requeriría sensor de profundidad real.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877056"/>
            <a:ext cx="8412480" cy="841248"/>
          </a:xfrm>
          <a:prstGeom prst="rect">
            <a:avLst/>
          </a:prstGeom>
          <a:solidFill>
            <a:srgbClr val="13203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365760" y="3877056"/>
            <a:ext cx="91440" cy="84124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502920" y="3877056"/>
            <a:ext cx="640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0" name="Text 18"/>
          <p:cNvSpPr/>
          <p:nvPr/>
        </p:nvSpPr>
        <p:spPr>
          <a:xfrm>
            <a:off x="1188720" y="3986784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escalar a un robot móvil repartidor se necesitaría localización, cartografía y redundancia de sensores más allá del prototipo actual.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828800" cy="2926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BIBLIOGRAFÍA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Referencias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85039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Google, "Gemma model card," Google AI for Developers, 2026. [En línea]. Disponible: https://ai.google.dev/gemma/docs/model_card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Google, "Gemma 3 model overview," Google AI for Developers, 2026. Disponible: https://ai.google.dev/gemma/docs/core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Google, "PaliGemma model card," Google AI for Developers, 2026. Disponible: https://ai.google.dev/gemma/docs/paligemma/model-card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B. Jacob et al., "Quantization and Training of Neural Networks for Efficient Integer-Arithmetic-Only Inference," in Proc. IEEE/CVF CVPR, 2018, pp. 2704-2713.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M. Sandler et al., "MobileNetV2: Inverted Residuals and Linear Bottlenecks," in Proc. IEEE/CVF CVPR, 2018, pp. 4510-4520.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A. Howard et al., "Searching for MobileNetV3," in Proc. IEEE/CVF ICCV, 2019, pp. 1314-1324.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A. Aladren et al., "Navigation assistance for the visually impaired using RGB-D sensor," IEEE Systems Journal, vol. 10, no. 3, pp. 922-932, 2016.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" y="4800600"/>
            <a:ext cx="850392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 — Inteligencia Artificial · Ingeniería Mecatrónica · UMNG ·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1627</Words>
  <Application>Microsoft Office PowerPoint</Application>
  <PresentationFormat>Presentación en pantalla (16:9)</PresentationFormat>
  <Paragraphs>224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Bastón Inteligente — Lab IA</dc:title>
  <dc:subject>PptxGenJS Presentation</dc:subject>
  <dc:creator>PptxGenJS</dc:creator>
  <cp:lastModifiedBy>Andres Julian Camacho Pinto</cp:lastModifiedBy>
  <cp:revision>6</cp:revision>
  <dcterms:created xsi:type="dcterms:W3CDTF">2026-05-22T23:31:47Z</dcterms:created>
  <dcterms:modified xsi:type="dcterms:W3CDTF">2026-05-23T15:52:11Z</dcterms:modified>
</cp:coreProperties>
</file>